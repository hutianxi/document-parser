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5"/>
  </p:sldIdLst>
  <p:sldSz cx="9144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7200" y="200000"/>
            <a:ext cx="82296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/>
              <a:t>2025年</a:t>
            </a:r>
          </a:p>
        </p:txBody>
      </p:sp>
      <p:sp>
        <p:nvSpPr>
          <p:cNvPr id="3" name="T3"/>
          <p:cNvSpPr txBox="1"/>
          <p:nvPr/>
        </p:nvSpPr>
        <p:spPr>
          <a:xfrm>
            <a:off x="457200" y="620000"/>
            <a:ext cx="8229600" cy="4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/>
              <a:t>销售业绩</a:t>
            </a:r>
          </a:p>
        </p:txBody>
      </p:sp>
      <p:sp>
        <p:nvSpPr>
          <p:cNvPr id="4" name="T4"/>
          <p:cNvSpPr txBox="1"/>
          <p:nvPr/>
        </p:nvSpPr>
        <p:spPr>
          <a:xfrm>
            <a:off x="457200" y="1000000"/>
            <a:ext cx="82296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/>
              <a:t>华东大区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57200" y="1400000"/>
          <a:ext cx="8229600" cy="16002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900000"/>
                <a:gridCol w="1300000"/>
                <a:gridCol w="1300000"/>
                <a:gridCol w="1300000"/>
                <a:gridCol w="1300000"/>
                <a:gridCol w="1129600"/>
              </a:tblGrid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片区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回款率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回款率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备注</a:t>
                      </a:r>
                    </a:p>
                  </a:txBody>
                  <a:tcPr/>
                </a:tc>
              </a:tr>
              <a:tr h="320040">
                <a:tc rowSpan="2">
                  <a:txBody>
                    <a:bodyPr/>
                    <a:lstStyle/>
                    <a:p>
                      <a:r>
                        <a:rPr lang="zh-CN" dirty="0"/>
                        <a:t>华东大区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超额完成</a:t>
                      </a:r>
                    </a:p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江苏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 rowSpan="2">
                  <a:txBody>
                    <a:bodyPr/>
                    <a:lstStyle/>
                    <a:p>
                      <a:r>
                        <a:rPr lang="zh-CN" dirty="0"/>
                        <a:t>华东南区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回款偏长</a:t>
                      </a:r>
                    </a:p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安徽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6"/>
          <p:cNvSpPr txBox="1"/>
          <p:nvPr/>
        </p:nvSpPr>
        <p:spPr>
          <a:xfrm>
            <a:off x="457200" y="3300000"/>
            <a:ext cx="20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/>
              <a:t>回款率</a:t>
            </a:r>
          </a:p>
        </p:txBody>
      </p:sp>
      <p:sp>
        <p:nvSpPr>
          <p:cNvPr id="7" name="T7"/>
          <p:cNvSpPr txBox="1"/>
          <p:nvPr/>
        </p:nvSpPr>
        <p:spPr>
          <a:xfrm>
            <a:off x="2500000" y="3300000"/>
            <a:ext cx="12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/>
              <a:t>86%</a:t>
            </a:r>
          </a:p>
        </p:txBody>
      </p:sp>
      <p:sp>
        <p:nvSpPr>
          <p:cNvPr id="8" name="T8"/>
          <p:cNvSpPr txBox="1"/>
          <p:nvPr/>
        </p:nvSpPr>
        <p:spPr>
          <a:xfrm>
            <a:off x="3800000" y="3300000"/>
            <a:ext cx="12000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dirty="0"/>
              <a:t>达标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57200" y="300000"/>
          <a:ext cx="8229600" cy="288036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1500000"/>
                <a:gridCol w="1500000"/>
                <a:gridCol w="1200000"/>
                <a:gridCol w="1429600"/>
              </a:tblGrid>
              <a:tr h="320040">
                <a:tc rowSpan="2">
                  <a:txBody>
                    <a:bodyPr/>
                    <a:lstStyle/>
                    <a:p>
                      <a:r>
                        <a:rPr lang="zh-CN" dirty="0"/>
                        <a:t>客户名称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dirty="0"/>
                        <a:t>回款情况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dirty="0"/>
                        <a:t>回款率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dirty="0"/>
                        <a:t>备注</a:t>
                      </a:r>
                    </a:p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合同金额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已回款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上海城建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已结清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江苏恒通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杭州云栖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逾期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苏州精密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已结清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宁波海港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合肥新能源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逾期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457200" y="3600000"/>
            <a:ext cx="4000000" cy="1500000"/>
            <a:chOff x="0" y="0"/>
            <a:chExt cx="4000000" cy="1500000"/>
          </a:xfrm>
        </p:grpSpPr>
        <p:sp>
          <p:nvSpPr>
            <p:cNvPr id="4" name="T4"/>
            <p:cNvSpPr txBox="1"/>
            <p:nvPr/>
          </p:nvSpPr>
          <p:spPr>
            <a:xfrm>
              <a:off x="0" y="0"/>
              <a:ext cx="4000000" cy="4000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zh-CN" dirty="0"/>
                <a:t>数据来源</a:t>
              </a:r>
            </a:p>
          </p:txBody>
        </p:sp>
        <p:sp>
          <p:nvSpPr>
            <p:cNvPr id="5" name="T5"/>
            <p:cNvSpPr txBox="1"/>
            <p:nvPr/>
          </p:nvSpPr>
          <p:spPr>
            <a:xfrm>
              <a:off x="0" y="450000"/>
              <a:ext cx="4000000" cy="4000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zh-CN" dirty="0"/>
                <a:t>销售系统</a:t>
              </a:r>
            </a:p>
          </p:txBody>
        </p:sp>
        <p:sp>
          <p:nvSpPr>
            <p:cNvPr id="6" name="T6"/>
            <p:cNvSpPr txBox="1"/>
            <p:nvPr/>
          </p:nvSpPr>
          <p:spPr>
            <a:xfrm>
              <a:off x="0" y="900000"/>
              <a:ext cx="4000000" cy="400000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r>
                <a:rPr lang="zh-CN" dirty="0"/>
                <a:t>财务对账</a:t>
              </a:r>
            </a:p>
          </p:txBody>
        </p:sp>
      </p:grpSp>
      <p:pic>
        <p:nvPicPr>
          <p:cNvPr id="7" name="Pic 7"/>
          <p:cNvPicPr/>
          <p:nvPr/>
        </p:nvPicPr>
        <p:blipFill>
          <a:blip r:embed="rId2"/>
          <a:stretch>
            <a:fillRect/>
          </a:stretch>
        </p:blipFill>
        <p:spPr>
          <a:xfrm>
            <a:off x="5000000" y="3600000"/>
            <a:ext cx="3600000" cy="2700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57200" y="300000"/>
          <a:ext cx="8229600" cy="256032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2000000"/>
                <a:gridCol w="1700000"/>
                <a:gridCol w="1929600"/>
              </a:tblGrid>
              <a:tr h="320040">
                <a:tc gridSpan="4">
                  <a:txBody>
                    <a:bodyPr/>
                    <a:lstStyle/>
                    <a:p>
                      <a:r>
                        <a:rPr lang="zh-CN" dirty="0"/>
                        <a:t>2025年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片区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年度目标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华东大区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达标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华东南区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未达标</a:t>
                      </a:r>
                    </a:p>
                  </a:txBody>
                  <a:tcPr/>
                </a:tc>
              </a:tr>
              <a:tr h="320040">
                <a:tc gridSpan="4">
                  <a:txBody>
                    <a:bodyPr/>
                    <a:lstStyle/>
                    <a:p>
                      <a:r>
                        <a:rPr lang="zh-CN" dirty="0"/>
                        <a:t>2026年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片区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年度目标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华东大区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华东南区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3600000"/>
          <a:ext cx="8229600" cy="160020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600000"/>
                <a:gridCol w="4629600"/>
              </a:tblGrid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工单类型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工单数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处理说明</a:t>
                      </a:r>
                    </a:p>
                  </a:txBody>
                  <a:tcPr/>
                </a:tc>
              </a:tr>
              <a:tr h="320040">
                <a:tc rowSpan="2">
                  <a:txBody>
                    <a:bodyPr/>
                    <a:lstStyle/>
                    <a:p>
                      <a:r>
                        <a:rPr lang="zh-CN" dirty="0"/>
                        <a:t>硬件故障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更换配件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软件异常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远程处理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zh-CN" dirty="0"/>
                        <a:t>现场支持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派工上门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4444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